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~15 s. Set the frame: one moon, five layers,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 'The whole question is whether Titan ever brings them together.'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 'We descend to the ocean, then climb back out to the sky.'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s. Legend shows the ocean appearing by 0.71 Gyr. Raises the ocean question slide 10 pays 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s. The order-of-magnitude gap is the point; clathrate is the conservative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s. Glycyl in all 6 replicas is the headline; state the caveat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s. Equal weight: one of five, not the climax. Selk scores LOW (~0.21) — do not call it a top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s. Sub-Saturn (dark) vs Anti-Saturn (cyan) diverge, e.g. 123 km in 2007-8. Ends the outward climb.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 The connective tissue across the five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~90 s. The slide examiners will probe — slow down, invite the ocean debate.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~60 s. The climax — credits all five equally.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~45 s. Return to the time framing that opened the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~30 s. Land the collective claim,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E9C"/>
                </a:solidFill>
              </a:rPr>
              <a:t>On the Habitability of Titan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222222"/>
                </a:solidFill>
              </a:rPr>
              <a:t>Five studies, one moon: interior to atmosphere</a:t>
            </a:r>
          </a:p>
          <a:p>
            <a:pPr algn="ctr"/>
            <a:r>
              <a:rPr sz="1600">
                <a:solidFill>
                  <a:srgbClr val="666666"/>
                </a:solidFill>
              </a:rPr>
              <a:t>Crick  ·  Nicolaides  ·  Castlevetro  ·  Meadows  ·  Islam Rahim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Why Titan?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Life needs three things: a liquid solvent, organic building blocks (CHNOPS), an energy source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Titan is the only body with a candidate for all three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The catch: they are kept apart (organics on top, water below ~100 km of ice)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The team's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Five studies tile Titan from the deep interior outward: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Ocean &amp; deep interior — Crick (tidal heating: is there an ocean?)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Ice shell — Nicolaides (impact melt) + Castlevetro (brine-pocket chemistry)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Surface — Meadows (Bayesian habitability map)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Atmosphere — Islam Rahim (vertical profiles)</a:t>
            </a:r>
          </a:p>
        </p:txBody>
      </p:sp>
      <p:pic>
        <p:nvPicPr>
          <p:cNvPr id="5" name="Picture 4" descr="fig_cross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757" y="1417320"/>
            <a:ext cx="3921045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Titan interior cross-section (team poster figure).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The deep interior: is there an ocean?  (Charlotte)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k₂ = 0.616 ± 0.067 (high) vs 0.375 ± 0.06 (low); PyALMA3 across three interiors (A/B/C)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All three fit the high k₂; none fit the low → observations still allow an ocean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Even a solid Titan grows a liquid layer within 0.71 Gyr, sustained to the red giant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Plant the flag: a 2025 result says there may be no ocean at all — we return to this</a:t>
            </a:r>
          </a:p>
        </p:txBody>
      </p:sp>
      <p:pic>
        <p:nvPicPr>
          <p:cNvPr id="5" name="Picture 4" descr="fig_charlo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94296"/>
            <a:ext cx="5394960" cy="321804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Figure: C. Crick (2026), Fig. 6 — tidal-heating melt over 5 Gyr.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The ice shell: impacts as the bridge  (Helena)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Bombardment history: 339 impacts, most in the early giant-planet instability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Only ~24 reach the surface; melt 8.98 × 10⁶ km³ (ice) vs 8.75 × 10⁵ (clathrate) — 10×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~23% of melt can drain to the ocean; the rest makes surface / shell melt pools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Catch: pools freeze in 10²–10⁴ yr → habitable, but on the clock</a:t>
            </a:r>
          </a:p>
        </p:txBody>
      </p:sp>
      <p:pic>
        <p:nvPicPr>
          <p:cNvPr id="5" name="Picture 4" descr="fig_hel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12322"/>
            <a:ext cx="5394960" cy="3981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Figure: H. Nicolaides (2026), Fig. 6 — melt volume, water ice vs clathrate.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Inside a brine pocket: does chemistry start?  (Lucca)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1.5 km comet → ~16.6 km crater → warm brine (83% water, 12% methane, tholins, organics)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Reactive MD (GFN2-xTB), 6 replicas: spontaneous C–N bonds, glycine mobilised, P → phosphate, S chemistry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Prebiotic first steps appear reproducibly (heatmap: products across rep 1–6)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Caveat: run hot (1000 K) and tiny (311 atoms) → a screen for possible chemistry, not rates</a:t>
            </a:r>
          </a:p>
        </p:txBody>
      </p:sp>
      <p:pic>
        <p:nvPicPr>
          <p:cNvPr id="5" name="Picture 4" descr="fig_luc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080" y="1417320"/>
            <a:ext cx="47244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Figure: L. Castlevetro (2026), Fig. 6 — recurrence of key products across 6 replicas.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The surface: where is it most habitable?  (Chris)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Bayesian habitability map, whole disc (~6.5M pixels), 8 weighted features, 5 epochs (LHB → red giant)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North-polar lake shores rank highest; global median P(H) ≈ 0.32 now, ≈ 0.53 in the red-giant future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Selk (Dragonfly's site) scores low (≈ 0.21): the map backs the mission via geomorphological diversity, not aggregate score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Map is ocean-agnostic — it scores the surface either way</a:t>
            </a:r>
          </a:p>
        </p:txBody>
      </p:sp>
      <p:pic>
        <p:nvPicPr>
          <p:cNvPr id="5" name="Picture 4" descr="fig_chr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18311"/>
            <a:ext cx="5394960" cy="41700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Figure: C. Meadows (2026) — present-epoch posterior mean P(H)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The atmosphere: can we see any of this from orbit?  (Imaan)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Cassini VIMS-IR limb, 2004–2017: two distinct vertical profiles, Sub- vs Anti-Saturn (120° transition)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Varies over years (equinox minimum 2009); drivers: magnetosphere (favoured), tides, seasonal insolation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</a:rPr>
              <a:t>•  Sharp implication: tidally-locked worlds may not be longitudinally uniform — matters for exoplanets too</a:t>
            </a:r>
          </a:p>
        </p:txBody>
      </p:sp>
      <p:pic>
        <p:nvPicPr>
          <p:cNvPr id="5" name="Picture 4" descr="fig_ima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860" y="3200400"/>
            <a:ext cx="10257798" cy="3154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666666"/>
                </a:solidFill>
              </a:rPr>
              <a:t>Figure: I. Islam Rahim (2026), Fig. 5 — Sub- vs Anti-Saturn profiles at 1.89 µm, 2004–2009.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Where we agree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Impact cratering is the master bridge (Nicolaides + Castlevetro + Meadows all hinge on it)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Habitability may not need the global ocean: shell pockets and melt pools are self-contained habitats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Titan is a moving target: everyone works through time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Shared next step: Selk crater, Dragonfly (2034), JWST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Open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 Q1 — Does the ocean exist?  Crick: models allow it. Islam Rahim: if the atmospheric asymmetry is tidal, it supports Petricca 2025's no-ocean. Nicolaides: 'if Petricca is right, the ocean-transport story doesn't apply.'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i="1">
                <a:solidFill>
                  <a:srgbClr val="666666"/>
                </a:solidFill>
              </a:rPr>
              <a:t>–  My read: for surface habitability the ocean debate is second-order (my map scores the surface either way); for interior habitability it's decisive. Honest answer today is 'unresolved', and Dragonfly won't settle it — that needs a dedicated orbiter, not a lander.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 Q2 — Does transient chemistry matter?  Pools freeze in 10²–10⁴ yr, yet the chemistry is reproducible.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i="1">
                <a:solidFill>
                  <a:srgbClr val="666666"/>
                </a:solidFill>
              </a:rPr>
              <a:t>–  My read: the team under-sells the pockets. 10²–10⁴ yr is enormous next to reaction timescales, and a frozen pocket preserves its products. The real limit is abundance (Helena's 339-impact budget), not whether one pocket has 'time'.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</a:rPr>
              <a:t>•  Q3 — What is the crust?  Water ice vs clathrate changes melt by 10× and underpins two studies.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i="1">
                <a:solidFill>
                  <a:srgbClr val="666666"/>
                </a:solidFill>
              </a:rPr>
              <a:t>–  My read: clathrate is the right call (fits shallow craters, insulates the ocean) and is the conservative one — ~10× less melt. The habitability case is made on the pessimistic setting, so it's more robust, not less.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Synthesis: a layered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Interior energy (Crick) → impacts breach the shell (Nicolaides) → concentrated prebiotic chemistry (Castlevetro) → mappable surface niches (Meadows) → expressed in the atmosphere (Islam Rahim)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Key move: the shell-and-surface niches survive even if the ocean is disproved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Titan's habitability case does not stand or fall on the ocean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The arc of time, and what's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Bombardment past → Cassini present → red-giant future (Titan may peak in habitability as the Sun expands)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Near term: Dragonfly at Selk (2034), JWST seasonal monitoring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The bookend that opened the interior question now closes 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4E9C"/>
                </a:solidFill>
              </a:rPr>
              <a:t>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One line per study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Collective answer: not 'is Titan alive?' but —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22222"/>
                </a:solidFill>
              </a:rPr>
              <a:t>•  'Titan has more independent, testable habitable niches than any other world we can currently reach'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